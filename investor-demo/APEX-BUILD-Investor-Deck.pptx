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0240"/>
            <a:ext cx="12161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926080"/>
            <a:ext cx="12161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931920"/>
            <a:ext cx="12161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12161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0058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APEX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5486400" y="10058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.BUILD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1371600" y="21945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Full-Stack Apps at the Speed of Thought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371600" y="2834640"/>
            <a:ext cx="941832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94436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10-Agent AI Orchestration  ·  6 AI Providers  ·  Full-Stack in One Prompt  ·  Zero Markup on BYOK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365760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7490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$26B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463040" y="44074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Tools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7490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92%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846320" y="44074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Daily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365760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7490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$36B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29600" y="44074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0D0D1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apex.build  ·  contact@apex.build  ·  Seed Round —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A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Building Software Is Still Broken for Most People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73152" cy="201168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17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💸  Unpredictable Bills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847088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burned $1,000+ in a single week on Replit Agent 3. No cost caps, no warnings, no transparency.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28016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1280160"/>
            <a:ext cx="73152" cy="20116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1417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Bug Loops Drain Credits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81928" y="1847088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and Bolt fix one bug, break two more. Each loop consumes 3-5M tokens with no self-healing.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566160"/>
            <a:ext cx="73152" cy="201168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703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🧱  Frontend-Only Thinking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4133088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generate great UIs but fail on backends, auth flows, webhooks, and production architecture.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356616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3566160"/>
            <a:ext cx="73152" cy="201168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3703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Vendor Lock-In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1928" y="4133088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locks you to one AI provider. When it's down or expensive, your builds stop dead.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Register, Reddit r/replit, r/lovable, r/boltnew — 2025-2026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 Massive, Fast-Moving Market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303520" cy="5303520"/>
          </a:xfrm>
          <a:prstGeom prst="ellipse">
            <a:avLst/>
          </a:prstGeom>
          <a:solidFill>
            <a:srgbClr val="1A0A2E"/>
          </a:solidFill>
          <a:ln w="25400">
            <a:solidFill>
              <a:srgbClr val="9B5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828800"/>
            <a:ext cx="4023360" cy="4023360"/>
          </a:xfrm>
          <a:prstGeom prst="ellipse">
            <a:avLst/>
          </a:prstGeom>
          <a:solidFill>
            <a:srgbClr val="0A1A2E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2743200"/>
            <a:ext cx="2194560" cy="2194560"/>
          </a:xfrm>
          <a:prstGeom prst="ellipse">
            <a:avLst/>
          </a:prstGeom>
          <a:solidFill>
            <a:srgbClr val="0A2A1A"/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3246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$26B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566928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188720"/>
            <a:ext cx="64008" cy="114300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15179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59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$26B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138160" y="151790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Tools by 2030 (27.1% CAGR)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02996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Research 2024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2514600"/>
            <a:ext cx="566928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2514600"/>
            <a:ext cx="64008" cy="11430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8437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$10B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38160" y="284378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Developer Tools 2030 (17.3% CAGR)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35584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Market Research 2025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26480" y="3840480"/>
            <a:ext cx="566928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840480"/>
            <a:ext cx="64008" cy="11430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931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Segment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41696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$37B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138160" y="41696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2032 (32.5% CAGR)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468172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Congruence Market Insights 2025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5166360"/>
            <a:ext cx="566928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5166360"/>
            <a:ext cx="64008" cy="1143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257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Forecast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54955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60%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8138160" y="54955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code will be AI-generated by 2026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600760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2025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US developers now use AI coding tools daily  (Second Talent, 2026)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A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VALIDATION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Investors Have Already Poured $3B+ Into This Category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market is real — and demand is insatiable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Est.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11430000" cy="18288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828800"/>
            <a:ext cx="11521440" cy="804672"/>
          </a:xfrm>
          <a:prstGeom prst="rect">
            <a:avLst/>
          </a:prstGeom>
          <a:solidFill>
            <a:srgbClr val="111120"/>
          </a:solidFill>
          <a:ln w="12700">
            <a:solidFill>
              <a:srgbClr val="1111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57400"/>
            <a:ext cx="164592" cy="164592"/>
          </a:xfrm>
          <a:prstGeom prst="ellipse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8745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1874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$29.3B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8745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$2.3B Series 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18745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$2B+ ARR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0" y="18745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~4M paid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0" y="187452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B2B SaaS to $1B ARR ever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164592" cy="164592"/>
          </a:xfrm>
          <a:prstGeom prst="ellipse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743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Lovable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2743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$6.6B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7432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$330M Series 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27432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$400M ARR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1120" y="27432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 users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0" y="274320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 ARR in 8 months from launch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566160"/>
            <a:ext cx="11521440" cy="804672"/>
          </a:xfrm>
          <a:prstGeom prst="rect">
            <a:avLst/>
          </a:prstGeom>
          <a:solidFill>
            <a:srgbClr val="111120"/>
          </a:solidFill>
          <a:ln w="12700">
            <a:solidFill>
              <a:srgbClr val="1111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794760"/>
            <a:ext cx="164592" cy="16459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6118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26080" y="3611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3611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$400M latest round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0" y="3611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$265M ARR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961120" y="3611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registered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789920" y="361188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1,556% YoY ARR growth in 2025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663440"/>
            <a:ext cx="164592" cy="16459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4805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Bolt.new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926080" y="4480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37760" y="4480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$135M total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49440" y="4480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 ARR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961120" y="4480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 users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789920" y="448056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→ $20M ARR in 2 months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5303520"/>
            <a:ext cx="11521440" cy="804672"/>
          </a:xfrm>
          <a:prstGeom prst="rect">
            <a:avLst/>
          </a:prstGeom>
          <a:solidFill>
            <a:srgbClr val="111120"/>
          </a:solidFill>
          <a:ln w="12700">
            <a:solidFill>
              <a:srgbClr val="1111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5532120"/>
            <a:ext cx="164592" cy="164592"/>
          </a:xfrm>
          <a:prstGeom prst="ellipse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53492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926080" y="53492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937760" y="5349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49440" y="5349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~$1B ARR est.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961120" y="53492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789920" y="53492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90% of Fortune 100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Sacra, TechCrunch, Bloomberg, Business Wire, CNBC — 2025-2026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PAIN — REPLIT &amp; BOLT.NEW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Competitors Are Burning Their Users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64008" cy="4572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0700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REPLIT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6162A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54864" cy="14173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892808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"I spent $1,000 in a single week editing pre-existing apps. There's no way to predict what it will cost." 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89864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Reddit r/replit, Sep 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355848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6162A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355848"/>
            <a:ext cx="54864" cy="14173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465576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"Effort-based pricing is almost completely unpredictable — a simple prompt can send the AI down a complex path." 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4471416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Register, Sep 2025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928616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6162A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928616"/>
            <a:ext cx="54864" cy="14173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5038344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"Agent applies changes you didn't ask for, rewrites entire components, and bills you for every loop." 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604418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G2 Review, 2025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63640" y="1234440"/>
            <a:ext cx="64008" cy="4572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120700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BOLT.NEW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63640" y="178308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6162A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783080"/>
            <a:ext cx="54864" cy="14173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1892808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"Burned 1.3M tokens in a single day. Auth bugs alone cost me 5-8 million tokens." 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28232" y="289864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Reddit r/boltnew, 2025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3355848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6162A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355848"/>
            <a:ext cx="54864" cy="14173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3465576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"Once you hit 15-20 components, context degrades badly. The whole project starts breaking." 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28232" y="4471416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Bolt.new Review, 2025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4928616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6162A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4928616"/>
            <a:ext cx="54864" cy="14173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5038344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"It breaks working code while trying to fix something else — and you still get charged for every attempt." "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28232" y="604418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Trustpilot / Reddit, 2025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A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PAIN — LOVABLE &amp; CURSOR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Even The Best-Funded Tools Have Critical Gaps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64008" cy="45720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0700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59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LOVABLE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6162A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54864" cy="141732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892808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"Credit depletion mid-session is the #1 reason devs switch away. You can't estimate cost before you start." 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89864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DesignRevision Survey,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355848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6162A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355848"/>
            <a:ext cx="54864" cy="141732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465576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"Lovable rewrites entire files instead of targeted changes — creating cascading failures that compound the credit problem." 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4471416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Superblocks Review, 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928616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6162A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928616"/>
            <a:ext cx="54864" cy="141732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5038344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"Only 20-30% user satisfaction for backend tasks. Frontend is great. Production backends? Completely different story." 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604418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eesel.ai Analysis, 2025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63640" y="1234440"/>
            <a:ext cx="64008" cy="4572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120700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CURSOR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63640" y="178308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6162A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783080"/>
            <a:ext cx="54864" cy="14173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1892808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"Cursor is a powerful coding assistant, but it still assumes you're a developer. Non-technical users hit a wall fast." 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28232" y="289864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Fortune, Mar 2026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3355848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6162A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355848"/>
            <a:ext cx="54864" cy="14173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3465576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"Great for editing existing code. Terrible at generating entire production apps from scratch — no orchestration layer." 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28232" y="4471416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SaaStr Community, 2025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4928616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6162A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4928616"/>
            <a:ext cx="54864" cy="14173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5038344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"At $20-$40/mo it's expensive for what is essentially an enhanced IDE. No deployment, no backend scaffolding." "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28232" y="604418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Reddit r/cursor, 2025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Apex.build: Full-Stack Apps, Predictable Cost, Zero Lock-in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3749040" cy="54864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Fixes: Unpredictable Bills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token cost tracker per build. Credit reserve before every AI call. Hard budget caps.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325880"/>
            <a:ext cx="374904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4904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Fixes: Bug Loops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192024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ErrorAnalyzer classifies failures before retry. Solver Agent investigates and self-heals.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32588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325880"/>
            <a:ext cx="3749040" cy="54864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4904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 Fixes: Frontend-Only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192024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specialized agents: Planner → Architect → Frontend → Backend → Database → Testing → DevOps → Reviewer → Solver → Lead.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57600"/>
            <a:ext cx="374904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22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🔓  Fixes: Vendor Lock-in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2519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providers (Claude, GPT-5, Gemini, Mistral, Llama, DeepSeek). BYOK with zero platform markup.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365760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3657600"/>
            <a:ext cx="374904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3822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Fixes: Context Limit Failures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42519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ChunkedEditor splits large files into bounded segments. ContextSelector picks only relevant files per prompt.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365760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3657600"/>
            <a:ext cx="3749040" cy="54864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822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 Fixes: Complex Projects Break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66760" y="42519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snapshots + session restore. Multi-session builds resume exactly where left off — no rework.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A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10-Agent AI Orchestration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multi-agent pipeline — not a wrapper around a single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flipH="1">
            <a:off x="1508760" y="2057400"/>
            <a:ext cx="4800600" cy="594360"/>
          </a:xfrm>
          <a:prstGeom prst="line">
            <a:avLst/>
          </a:prstGeom>
          <a:noFill/>
          <a:ln w="19050">
            <a:solidFill>
              <a:srgbClr val="2A2A3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H="1">
            <a:off x="3703320" y="2057400"/>
            <a:ext cx="2606040" cy="594360"/>
          </a:xfrm>
          <a:prstGeom prst="line">
            <a:avLst/>
          </a:prstGeom>
          <a:noFill/>
          <a:ln w="19050">
            <a:solidFill>
              <a:srgbClr val="2A2A3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H="1">
            <a:off x="5897880" y="2057400"/>
            <a:ext cx="411480" cy="594360"/>
          </a:xfrm>
          <a:prstGeom prst="line">
            <a:avLst/>
          </a:prstGeom>
          <a:noFill/>
          <a:ln w="19050">
            <a:solidFill>
              <a:srgbClr val="2A2A3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309360" y="2057400"/>
            <a:ext cx="1783080" cy="594360"/>
          </a:xfrm>
          <a:prstGeom prst="line">
            <a:avLst/>
          </a:prstGeom>
          <a:noFill/>
          <a:ln w="19050">
            <a:solidFill>
              <a:srgbClr val="2A2A3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309360" y="2057400"/>
            <a:ext cx="3977640" cy="594360"/>
          </a:xfrm>
          <a:prstGeom prst="line">
            <a:avLst/>
          </a:prstGeom>
          <a:noFill/>
          <a:ln w="19050">
            <a:solidFill>
              <a:srgbClr val="2A2A3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166360" y="14630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1463040"/>
            <a:ext cx="2011680" cy="54864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591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193852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all agents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user communication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51760"/>
            <a:ext cx="201168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PLANNER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12724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requirements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build plans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0" y="265176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2651760"/>
            <a:ext cx="2011680" cy="54864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7797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ARCHITECT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12724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system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APIs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65176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651760"/>
            <a:ext cx="201168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7797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12724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UI components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React/Vue code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49440" y="265176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2651760"/>
            <a:ext cx="201168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7797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BACKEND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312724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APIs 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0" y="265176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0" y="2651760"/>
            <a:ext cx="201168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27797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35440" y="312724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schemas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queries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5720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572000"/>
            <a:ext cx="2011680" cy="54864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00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TESTING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504748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&amp; runs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26080" y="45720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26080" y="4572000"/>
            <a:ext cx="201168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0" y="4700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DEVOPS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504748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deployment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infrastructure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0" y="45720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0" y="4572000"/>
            <a:ext cx="2011680" cy="54864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4700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REVIEWER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77840" y="504748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046720" y="45720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0" y="4572000"/>
            <a:ext cx="201168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0" y="4700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SOLVER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138160" y="504748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failures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self-heals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5760" y="6172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PROVIDERS: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377440" y="6144768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1A1A2E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77440" y="61447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977640" y="6144768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1A1A2E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77640" y="61447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77840" y="6144768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1A1A2E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7840" y="61447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178040" y="6144768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1A1A2E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78040" y="61447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778240" y="6144768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1A1A2E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78240" y="61447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378440" y="6144768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1A1A2E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378440" y="61447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MOAT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Proprietary Systems That Cannot Be Easily Replicated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prompt tokens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cleanly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508760"/>
            <a:ext cx="18288" cy="16459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143560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ChunkedEditor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38528" y="1783080"/>
            <a:ext cx="20299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oversized files into token-bounded segments, applies targeted edits, and reassembles — eliminating context-limit failures that cripple competitors on large codebases.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32588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4630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89120" y="20756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categories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resolved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60720" y="1508760"/>
            <a:ext cx="18288" cy="16459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143560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ErrorAnalyzer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70448" y="1783080"/>
            <a:ext cx="20299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error classification engine. Categorizes build failures (TypeScript, CORS, port conflicts, missing deps) and generates file-specific repair instructions before retry.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32588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4630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59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40-60%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21040" y="20756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 reduction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build operation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692640" y="1508760"/>
            <a:ext cx="18288" cy="16459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2368" y="143560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ContextSelector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02368" y="1783080"/>
            <a:ext cx="20299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file context selection — feeds only the relevant source files to each agent prompt, reducing token cost 40-60% while improving precision on complex builds.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" y="44074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continuity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disconnects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0" y="3840480"/>
            <a:ext cx="18288" cy="16459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38528" y="376732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Snapshot System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938528" y="4114800"/>
            <a:ext cx="20299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build state with full snapshot/restore. Any build session can be resumed exactly where it stopped — critical for long autonomous runs and error recovery.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97680" y="365760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3794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389120" y="44074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strategies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automatically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60720" y="3840480"/>
            <a:ext cx="18288" cy="16459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376732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Consensus Engine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870448" y="4114800"/>
            <a:ext cx="20299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agents disagree, a consensus voting system routes to the optimal recovery path: retry-same, switch-provider, spawn-solver, or abort — maximizing build success rate.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0" y="365760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3794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$0.02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8321040" y="44074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per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request (fast mode)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692640" y="3840480"/>
            <a:ext cx="18288" cy="16459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02368" y="376732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Enforcer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802368" y="4114800"/>
            <a:ext cx="20299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Per-build credit reservation, mid-build settlement, and real-time cost tracking. Users see live per-token cost — the only platform with full financial transparency.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A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MATRIX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Apex.build Wins on Every Axis That Matters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1920240" cy="5212080"/>
          </a:xfrm>
          <a:prstGeom prst="rect">
            <a:avLst/>
          </a:prstGeom>
          <a:solidFill>
            <a:srgbClr val="0A2020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Apex.build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Lovable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Bolt.new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11430000" cy="18288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01368"/>
            <a:ext cx="2926080" cy="4572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2880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(Frontend + Backend)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23944" y="1901952"/>
            <a:ext cx="347472" cy="34747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78224" y="18562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52744" y="1901952"/>
            <a:ext cx="347472" cy="34747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18562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81544" y="190195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35824" y="18562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10344" y="1901952"/>
            <a:ext cx="347472" cy="34747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64624" y="18562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439144" y="190195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93424" y="18562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33172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Multi-Agent Build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23944" y="2404872"/>
            <a:ext cx="347472" cy="34747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78224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52744" y="2404872"/>
            <a:ext cx="347472" cy="34747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07024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81544" y="240487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610344" y="240487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64624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1439144" y="240487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393424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2807208"/>
            <a:ext cx="2926080" cy="4572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83464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Cost Transparency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23944" y="2907792"/>
            <a:ext cx="347472" cy="34747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78224" y="2862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952744" y="290779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07024" y="2862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781544" y="290779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35824" y="2862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610344" y="290779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64624" y="2862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1439144" y="290779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393424" y="2862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5760" y="33375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with Zero Markup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123944" y="3410712"/>
            <a:ext cx="347472" cy="34747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78224" y="3364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952744" y="341071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07024" y="3364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781544" y="341071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35824" y="3364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9610344" y="341071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64624" y="3364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1439144" y="341071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393424" y="3364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65760" y="3813048"/>
            <a:ext cx="2926080" cy="4572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38404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AI Provider Support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4123944" y="3913632"/>
            <a:ext cx="347472" cy="34747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78224" y="3867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952744" y="391363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07024" y="3867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7781544" y="391363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35824" y="3867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610344" y="391363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564624" y="3867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11439144" y="391363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393424" y="3867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365760" y="434340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Error Analyzer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4123944" y="4416552"/>
            <a:ext cx="347472" cy="34747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78224" y="4370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952744" y="441655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07024" y="4370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781544" y="441655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35824" y="4370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9610344" y="441655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564624" y="4370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11439144" y="441655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1393424" y="4370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365760" y="4818888"/>
            <a:ext cx="2926080" cy="4572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5760" y="484632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Context-Limit-Safe Editing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4123944" y="4919472"/>
            <a:ext cx="347472" cy="34747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078224" y="4873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5952744" y="491947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07024" y="4873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7781544" y="491947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735824" y="4873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9610344" y="491947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564624" y="4873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11439144" y="4919472"/>
            <a:ext cx="347472" cy="34747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1393424" y="4873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365760" y="534924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Snapshot &amp; Resume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4123944" y="5422392"/>
            <a:ext cx="347472" cy="34747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078224" y="5376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5952744" y="5422392"/>
            <a:ext cx="347472" cy="34747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907024" y="5376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7781544" y="542239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735824" y="5376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9610344" y="542239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564624" y="5376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11439144" y="542239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1393424" y="5376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365760" y="5824728"/>
            <a:ext cx="2926080" cy="4572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65760" y="58521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Monthly Pricing</a:t>
            </a:r>
            <a:endParaRPr lang="en-US" sz="1150" dirty="0"/>
          </a:p>
        </p:txBody>
      </p:sp>
      <p:sp>
        <p:nvSpPr>
          <p:cNvPr id="107" name="Shape 105"/>
          <p:cNvSpPr/>
          <p:nvPr/>
        </p:nvSpPr>
        <p:spPr>
          <a:xfrm>
            <a:off x="4123944" y="5925312"/>
            <a:ext cx="347472" cy="34747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8224" y="5879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5952744" y="592531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907024" y="5879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7781544" y="5925312"/>
            <a:ext cx="347472" cy="34747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735824" y="5879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9610344" y="5925312"/>
            <a:ext cx="347472" cy="34747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564624" y="5879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11439144" y="5925312"/>
            <a:ext cx="347472" cy="34747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393424" y="5879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365760" y="6583680"/>
            <a:ext cx="164592" cy="164592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9436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feature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2286000" y="6583680"/>
            <a:ext cx="164592" cy="16459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514600" y="6537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limited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4480560" y="6583680"/>
            <a:ext cx="164592" cy="16459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709160" y="6537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ADVANTAGE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More Power for Less Money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Apex.build Pro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481328"/>
            <a:ext cx="3147060" cy="41148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67700" y="14813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$59/mo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56420" y="15179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$40 AI credits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3113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Core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231136"/>
            <a:ext cx="1333500" cy="4114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4140" y="223113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$25/mo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42860" y="22677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credits, no backend gen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Pro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980944"/>
            <a:ext cx="2667000" cy="41148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87640" y="29809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76360" y="3017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Credit-based, frontend focused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7307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Bolt.new Pro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3730752"/>
            <a:ext cx="2667000" cy="4114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87640" y="37307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$50/mo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76360" y="3767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limits, no backend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Pro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4480560"/>
            <a:ext cx="1066800" cy="411480"/>
          </a:xfrm>
          <a:prstGeom prst="rect">
            <a:avLst/>
          </a:prstGeom>
          <a:solidFill>
            <a:srgbClr val="A0A0B0"/>
          </a:solidFill>
          <a:ln w="12700">
            <a:solidFill>
              <a:srgbClr val="A0A0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7440" y="4480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76160" y="45171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only, no full-stack build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52303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5230368"/>
            <a:ext cx="1013460" cy="411480"/>
          </a:xfrm>
          <a:prstGeom prst="rect">
            <a:avLst/>
          </a:prstGeom>
          <a:solidFill>
            <a:srgbClr val="666680"/>
          </a:solidFill>
          <a:ln w="12700">
            <a:solidFill>
              <a:srgbClr val="6666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4100" y="52303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$19/mo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22820" y="52669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autocomplete only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594360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96188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BYOK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572768" y="5980176"/>
            <a:ext cx="1298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platform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on your keys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594360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596188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$110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453128" y="5980176"/>
            <a:ext cx="1298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credits included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 plan/mo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594360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596188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62-71%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333488" y="5980176"/>
            <a:ext cx="1298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paid plans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06840" y="594360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98280" y="596188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59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0213848" y="5980176"/>
            <a:ext cx="1298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A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Three Interlocking Revenue Streams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3657600" cy="64008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81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SUBSCRIPTIONS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20116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Builder $24/mo — $12 AI credits included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5146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 $59/mo — $40 AI credits included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0175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Team $149/mo — $110 AI credits included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5204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Enterprise — custom pricing + SLA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40233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20% discount for annual billing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3291840" cy="621792"/>
          </a:xfrm>
          <a:prstGeom prst="rect">
            <a:avLst/>
          </a:prstGeom>
          <a:solidFill>
            <a:srgbClr val="0D0D18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95604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62-71%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965960" y="49743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132588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325880"/>
            <a:ext cx="3657600" cy="6400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1481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CREDIT TOP-UPS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62272" y="20116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Non-expiring overage credits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62272" y="25146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$25 / $50 / $100 / $250 packs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62272" y="30175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1 credit = $0.01 face value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62272" y="35204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Auto-recharge (optional)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62272" y="40233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≥40% contribution margin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4937760"/>
            <a:ext cx="3291840" cy="621792"/>
          </a:xfrm>
          <a:prstGeom prst="rect">
            <a:avLst/>
          </a:prstGeom>
          <a:solidFill>
            <a:srgbClr val="0D0D18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95604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≥40%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897880" y="49743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132588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1325880"/>
            <a:ext cx="3657600" cy="64008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94192" y="1481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BYOK ROUTING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94192" y="20116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Bring Your Own API Key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94192" y="25146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$0.25 per 1M tokens routed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94192" y="30175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Users keep full AI access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94192" y="35204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Platform earns on orchestration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94192" y="40233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 AI cost exposure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4937760"/>
            <a:ext cx="3291840" cy="621792"/>
          </a:xfrm>
          <a:prstGeom prst="rect">
            <a:avLst/>
          </a:prstGeom>
          <a:solidFill>
            <a:srgbClr val="0D0D18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495604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59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~100%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829800" y="49743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Routing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59893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 (Blended Target ARPU: $38+  ·  Free→Paid Conversion Target: ≥4%  ·  Top-up Attach Rate: ≥20%)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3-Year Revenue Roadmap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772400" cy="4389120"/>
          </a:xfrm>
          <a:prstGeom prst="roundRect">
            <a:avLst>
              <a:gd name="adj" fmla="val 1667"/>
            </a:avLst>
          </a:prstGeom>
          <a:solidFill>
            <a:srgbClr val="0D0D1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760720"/>
            <a:ext cx="7223760" cy="0"/>
          </a:xfrm>
          <a:prstGeom prst="line">
            <a:avLst/>
          </a:prstGeom>
          <a:noFill/>
          <a:ln w="9525">
            <a:solidFill>
              <a:srgbClr val="2A2A3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5623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4663440"/>
            <a:ext cx="7223760" cy="0"/>
          </a:xfrm>
          <a:prstGeom prst="line">
            <a:avLst/>
          </a:prstGeom>
          <a:noFill/>
          <a:ln w="9525">
            <a:solidFill>
              <a:srgbClr val="2A2A3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4526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3566160"/>
            <a:ext cx="7223760" cy="0"/>
          </a:xfrm>
          <a:prstGeom prst="line">
            <a:avLst/>
          </a:prstGeom>
          <a:noFill/>
          <a:ln w="9525">
            <a:solidFill>
              <a:srgbClr val="2A2A3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" y="3429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468880"/>
            <a:ext cx="7223760" cy="0"/>
          </a:xfrm>
          <a:prstGeom prst="line">
            <a:avLst/>
          </a:prstGeom>
          <a:noFill/>
          <a:ln w="9525">
            <a:solidFill>
              <a:srgbClr val="2A2A3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57200" y="2331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1371600"/>
            <a:ext cx="7223760" cy="0"/>
          </a:xfrm>
          <a:prstGeom prst="line">
            <a:avLst/>
          </a:prstGeom>
          <a:noFill/>
          <a:ln w="9525">
            <a:solidFill>
              <a:srgbClr val="2A2A3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1234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97280" y="5440680"/>
            <a:ext cx="411480" cy="274320"/>
          </a:xfrm>
          <a:prstGeom prst="rect">
            <a:avLst/>
          </a:prstGeom>
          <a:solidFill>
            <a:srgbClr val="666680"/>
          </a:solidFill>
          <a:ln w="12700">
            <a:solidFill>
              <a:srgbClr val="6666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18464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581912" y="5234940"/>
            <a:ext cx="411480" cy="48006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0472" y="49789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66544" y="4857750"/>
            <a:ext cx="411480" cy="85725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75104" y="460171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5840" y="5806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4960620"/>
            <a:ext cx="411480" cy="754380"/>
          </a:xfrm>
          <a:prstGeom prst="rect">
            <a:avLst/>
          </a:prstGeom>
          <a:solidFill>
            <a:srgbClr val="666680"/>
          </a:solidFill>
          <a:ln w="12700">
            <a:solidFill>
              <a:srgbClr val="6666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70458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76472" y="4274820"/>
            <a:ext cx="411480" cy="144018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85032" y="401878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61104" y="3314700"/>
            <a:ext cx="411480" cy="24003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9664" y="305866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0" y="5806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(2027)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0" y="4000500"/>
            <a:ext cx="411480" cy="1714500"/>
          </a:xfrm>
          <a:prstGeom prst="rect">
            <a:avLst/>
          </a:prstGeom>
          <a:solidFill>
            <a:srgbClr val="666680"/>
          </a:solidFill>
          <a:ln w="12700">
            <a:solidFill>
              <a:srgbClr val="6666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374446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71032" y="2628900"/>
            <a:ext cx="411480" cy="30861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9592" y="237286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55664" y="1600200"/>
            <a:ext cx="411480" cy="41148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134416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394960" y="5806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(2028)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97280" y="6309360"/>
            <a:ext cx="274320" cy="201168"/>
          </a:xfrm>
          <a:prstGeom prst="rect">
            <a:avLst/>
          </a:prstGeom>
          <a:solidFill>
            <a:srgbClr val="666680"/>
          </a:solidFill>
          <a:ln w="12700">
            <a:solidFill>
              <a:srgbClr val="6666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63040" y="62819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08960" y="6309360"/>
            <a:ext cx="274320" cy="201168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62819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6309360"/>
            <a:ext cx="274320" cy="20116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62819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03920" y="13716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144475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≥4%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10058400" y="15087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Free-to-Paid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Target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03920" y="265176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95360" y="272491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$38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10058400" y="27889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503920" y="39319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95360" y="400507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62-71%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10058400" y="40690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Range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503920" y="521208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95360" y="528523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59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≥20%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10058400" y="53492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Credit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Attach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A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Three-Phase Launch Into a Hot Market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657600" cy="5120640"/>
          </a:xfrm>
          <a:prstGeom prst="roundRect">
            <a:avLst>
              <a:gd name="adj" fmla="val 2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3657600" cy="64008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Product-Led Growth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Q1-Q2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Free tier with $5 onboarding trial drives virality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Build-in-public content: Twitter/X, Reddit, YouTube demos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58184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Submit to Product Hunt, Hacker News Show HN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425696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Dev influencer outreach (1M+ followers in AI builder space)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5093208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 in r/startups, r/SideProject, r/webdev communities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325880"/>
            <a:ext cx="3657600" cy="5120640"/>
          </a:xfrm>
          <a:prstGeom prst="roundRect">
            <a:avLst>
              <a:gd name="adj" fmla="val 2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325880"/>
            <a:ext cx="3657600" cy="6400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44475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434840" y="148132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Community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34840" y="20116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Q2-Q3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242316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OSS integrations to attract developer audience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090672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access for developers building on top of Apex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3758184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Discord server for power users &amp; builders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4425696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Referral program: $10 credit per converted referral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5093208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Partnership with no-code/low-code communities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1325880"/>
            <a:ext cx="3657600" cy="5120640"/>
          </a:xfrm>
          <a:prstGeom prst="roundRect">
            <a:avLst>
              <a:gd name="adj" fmla="val 2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325880"/>
            <a:ext cx="3657600" cy="64008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144475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59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8366760" y="148132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&amp; Team Sales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66760" y="20116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 2026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66760" y="242316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Inbound from team plan upgrades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66760" y="3090672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Direct outreach to digital agencies &amp; dev shops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66760" y="3758184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SAML/SCIM + audit logs unlocks enterprise deals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6760" y="4425696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Volume pricing for 10+ seat teams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66760" y="5093208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Partner with dev bootcamps for student pipelines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Timing Is Perfect — Here's Why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3749040" cy="457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Market Just Reached Inflection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4747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grew from $2.96B (2025) to projected $37B (2032). 92% of developers now use AI tools daily. This is the "smartphones in 2009" moment for software creation.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325880"/>
            <a:ext cx="3749040" cy="4572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💥  Competitors Are Stumbling Under Their Own Success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1920240"/>
            <a:ext cx="34747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Replit's surprise billing crisis (Sep 2025), Lovable's bug-loop reputation, Bolt's context degradation — they've created a massive trust deficit with power users.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32588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325880"/>
            <a:ext cx="374904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AI Costs Dropped 90% in 18 Months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1920240"/>
            <a:ext cx="34747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Haiku, GPT-4o-mini, Gemini Flash: frontier-quality AI now costs $0.001/1K tokens. The economics of AI-generated full-stack apps finally work at consumer price points.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57600"/>
            <a:ext cx="3749040" cy="4572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94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🌊  The "Non-Developer Developer" Wave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251960"/>
            <a:ext cx="34747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of Y Combinator W25 startups had 91% AI-generated codebases. Product managers, designers, and founders are now shipping — they need a tool built for them.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65760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3657600"/>
            <a:ext cx="374904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3794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🔮  Gartner: 60% AI-Generated Code by 2026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4251960"/>
            <a:ext cx="34747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enterprise will need AI-first development platforms within 24 months. Apex.build is positioned at the exact intersection of this megatrend.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365760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3657600"/>
            <a:ext cx="3749040" cy="457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794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Investor Appetite Is Enormous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66760" y="4251960"/>
            <a:ext cx="34747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$3.4B invested in this category in 2025 alone. Markets validated. Now is the time to capture the segment left behind: power users who need real full-stack, not glorified wrappers.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A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PROOF POINTS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Production-Ready Platform, Live Today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7160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37560" y="213969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B59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17920" y="213969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Modes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(Fast/Balanced/Max)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840" y="13258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37160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100K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098280" y="213969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 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Cleanly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82112"/>
            <a:ext cx="201168" cy="201168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455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3017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Production Platform  — 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301752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apex.build deployed on Render, Stripe live billing, PostgreSQL, fully working end-to-end build pipeline.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201168" cy="201168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039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367588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Build Pipeline  — 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06040" y="367588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→ Architect → Frontend → Backend → Database → Testing → DevOps → Reviewer → Solver → Lead — all orchestrated.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498848"/>
            <a:ext cx="201168" cy="201168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4622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433425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Billing Stack  — 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06040" y="4334256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live mode, subscription management, credit top-ups, BYOK routing, per-token spend tracking, budget enforcement.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5157216"/>
            <a:ext cx="201168" cy="201168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120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" y="49926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Collaboration  —  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06040" y="4992624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WebSocket-based live collaboration hub, build streaming, agent status broadcasting, multi-user session support.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5815584"/>
            <a:ext cx="201168" cy="201168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7790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" y="56509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Enterprise-Ready Auth  —  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606040" y="5650992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httpOnly cookies (in progress), OAuth flows, role-based access control, audit-ready architecture.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653796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apex.build  ·  api.apex.build  — Live in production, March 2026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 OPPORTUNITY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11430000" cy="274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89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Seed Round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$2.5M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/ Seed Round  ·  SAFE or Priced 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66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3749040"/>
            <a:ext cx="2798064" cy="347472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 $1.125M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4389120"/>
            <a:ext cx="1554480" cy="34747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297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$625K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937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AI Costs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5029200"/>
            <a:ext cx="1243584" cy="347472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4937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$500K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577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5669280"/>
            <a:ext cx="621792" cy="34747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6512" y="5577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$250K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1188720"/>
            <a:ext cx="3931920" cy="5029200"/>
          </a:xfrm>
          <a:prstGeom prst="roundRect">
            <a:avLst>
              <a:gd name="adj" fmla="val 186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1188720"/>
            <a:ext cx="393192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12984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INVESTORS GET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3816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 Builder / Vibe Coding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23591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0" y="235915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38160" y="288950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0" y="288950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apex.build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34198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0" y="34198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 by 2030 (27.1% CAGR)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38160" y="39502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0" y="39502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10-agent system + 5 proprietary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0" y="4480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+ credits + BYOK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8160" y="50109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01200" y="50109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62-71% contribution margin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38160" y="55412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 Target: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0" y="55412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 ARR (moderate scenario)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38160" y="5961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contact@apex.build  ·  apex.build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914400"/>
            <a:ext cx="5029200" cy="5029200"/>
          </a:xfrm>
          <a:prstGeom prst="ellipse">
            <a:avLst/>
          </a:prstGeom>
          <a:solidFill>
            <a:srgbClr val="0D0020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1645920"/>
            <a:ext cx="3566160" cy="3566160"/>
          </a:xfrm>
          <a:prstGeom prst="ellipse">
            <a:avLst/>
          </a:prstGeom>
          <a:solidFill>
            <a:srgbClr val="001020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5486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APEX.BUILD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6400800" cy="36576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 years, Apex.build will be the platform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1 million builders ship production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— without writing a single line of code.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that exist today leave power users behind.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the platform that doesn't.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489204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489204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10K paid users · $1.5M ARR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536752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2027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536752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100K users · $12M ARR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584301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2028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584301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Market leader in full-stack AI builds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28816"/>
            <a:ext cx="12161520" cy="329184"/>
          </a:xfrm>
          <a:prstGeom prst="rect">
            <a:avLst/>
          </a:prstGeom>
          <a:solidFill>
            <a:srgbClr val="0D0D18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4710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apex.build  ·  contact@apex.build  ·  "Build the future at the speed of thought."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2026-03-22T01:03:41Z</dcterms:created>
  <dcterms:modified xsi:type="dcterms:W3CDTF">2026-03-22T01:03:41Z</dcterms:modified>
</cp:coreProperties>
</file>